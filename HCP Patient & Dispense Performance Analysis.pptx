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46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95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12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56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260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76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019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305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436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84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7893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963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4370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095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213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060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54050-2F3E-4001-8415-7C64474DA999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C54416C-90BB-46C9-A5C4-E5B47C54C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434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ED92D-1052-4C55-92A9-E345854241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HCP Patient &amp; Dispense Performance Analysis</a:t>
            </a:r>
            <a:endParaRPr lang="en-IN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C5BA1-F563-41AE-81BA-AB1990C104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BizInsights Case Study Round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Shraddha 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Date:04/12/2025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891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5BACD-D828-454E-99BD-C56B5CC95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E655A-0ECA-44E0-AB68-B1E2E2A7A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Case Study: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HCP enrollment, prescription behavior, satisfaction (NPS), and retention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HCP performance across time (2021 vs 2022)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high-performing specialties and experience groups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insights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decision-making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1105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7CE6B-D80D-43E7-8CCF-89600FEC4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FE3A71A-41C3-479C-A1A7-8CED8B6AE1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HCP Unique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&amp; Last Dispense 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Discontinuations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&amp; Active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 Duration &amp; Buckets</a:t>
            </a:r>
          </a:p>
          <a:p>
            <a:endParaRPr lang="en-IN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53867D4-E268-44A6-877C-5D893CE731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Steps: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HCP identifiers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 Duration in days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 Duration Buckets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Year (2021 &amp; 2022)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9028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F7D0E2-1B3A-4B5E-9655-CB181A815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KPIs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E7BBF-830E-4C7B-9C16-3A7C3BC53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Enrollments 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14,000+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HCPs: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392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HCP Rate: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71%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Enrollment per HCP: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35.72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NPS: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24.14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Discontinuations: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5,912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2040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985EF-7C74-4BC1-B688-77F728B15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62B0F-8BB3-4812-81A0-A5BF049FB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specialty is the top contributor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total enrollments.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Mid-tenure HCPs (3–6 months) show the highest average enrollment.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HCPs (12+ months) form the largest active group.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 shows improved average NPS with strong enrollment performance.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592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596DE4-3C51-4609-B167-1768AC86C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" y="744070"/>
            <a:ext cx="12192000" cy="61139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09DD3C-C406-4241-BAB1-592257459950}"/>
              </a:ext>
            </a:extLst>
          </p:cNvPr>
          <p:cNvSpPr txBox="1"/>
          <p:nvPr/>
        </p:nvSpPr>
        <p:spPr>
          <a:xfrm>
            <a:off x="116540" y="343960"/>
            <a:ext cx="1207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Power BI dashboard with filters for Specialty, Area, Rx Duration Buckets, and Active HCP status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7641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B7D6A9-B20C-4244-A17C-A6CEBA3BD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2021 vs 2022 COMPARISON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0EAF1D0-70A2-4196-8B06-8B7C1CB393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56530"/>
              </p:ext>
            </p:extLst>
          </p:nvPr>
        </p:nvGraphicFramePr>
        <p:xfrm>
          <a:off x="851647" y="1891553"/>
          <a:ext cx="9206753" cy="3024140"/>
        </p:xfrm>
        <a:graphic>
          <a:graphicData uri="http://schemas.openxmlformats.org/drawingml/2006/table">
            <a:tbl>
              <a:tblPr/>
              <a:tblGrid>
                <a:gridCol w="2718487">
                  <a:extLst>
                    <a:ext uri="{9D8B030D-6E8A-4147-A177-3AD203B41FA5}">
                      <a16:colId xmlns:a16="http://schemas.microsoft.com/office/drawing/2014/main" val="1769970751"/>
                    </a:ext>
                  </a:extLst>
                </a:gridCol>
                <a:gridCol w="3244133">
                  <a:extLst>
                    <a:ext uri="{9D8B030D-6E8A-4147-A177-3AD203B41FA5}">
                      <a16:colId xmlns:a16="http://schemas.microsoft.com/office/drawing/2014/main" val="2726404618"/>
                    </a:ext>
                  </a:extLst>
                </a:gridCol>
                <a:gridCol w="3244133">
                  <a:extLst>
                    <a:ext uri="{9D8B030D-6E8A-4147-A177-3AD203B41FA5}">
                      <a16:colId xmlns:a16="http://schemas.microsoft.com/office/drawing/2014/main" val="1975732471"/>
                    </a:ext>
                  </a:extLst>
                </a:gridCol>
              </a:tblGrid>
              <a:tr h="604828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19104"/>
                  </a:ext>
                </a:extLst>
              </a:tr>
              <a:tr h="604828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 Enrollment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1217867"/>
                  </a:ext>
                </a:extLst>
              </a:tr>
              <a:tr h="604828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 NPS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733540"/>
                  </a:ext>
                </a:extLst>
              </a:tr>
              <a:tr h="604828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 Discontinuations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461282"/>
                  </a:ext>
                </a:extLst>
              </a:tr>
              <a:tr h="604828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Active HCP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89%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608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0470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42C9C-8DE7-4BDB-AA8E-ABCB5A7C7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BUSINESS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1D26F-4BC8-418A-8D7B-733C7D8DD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HCP engagement strategies in 2022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to higher satisfaction and 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Mid-duration HCPs are the most productive group.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PDA specialties should be prioritized for future growth.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enables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 on onboarding, retention, and performance.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431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950F-27C7-4684-8D09-617A27BBB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SKILLS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211D3-4755-468C-88C9-87A5452B7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Cleaning, SUMIF, AVERAGEIF, Sorting, Bucketing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DAX Measures, KPI Cards, Interactive Visuals, Slicers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Analysis &amp; Data Storytelling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119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B5C88AD-615E-4565-9467-1D322428B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7365"/>
            <a:ext cx="10515600" cy="1066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1904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</TotalTime>
  <Words>325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Trebuchet MS</vt:lpstr>
      <vt:lpstr>Wingdings 3</vt:lpstr>
      <vt:lpstr>Facet</vt:lpstr>
      <vt:lpstr>HCP Patient &amp; Dispense Performance Analysis</vt:lpstr>
      <vt:lpstr>BUSINESS PROBLEM STATEMENT</vt:lpstr>
      <vt:lpstr>DATA OVERVIEW</vt:lpstr>
      <vt:lpstr>KEY KPIs</vt:lpstr>
      <vt:lpstr>TOP BUSINESS INSIGHTS</vt:lpstr>
      <vt:lpstr>PowerPoint Presentation</vt:lpstr>
      <vt:lpstr>2021 vs 2022 COMPARISON</vt:lpstr>
      <vt:lpstr>CONCLUSION &amp; BUSINESS VALUE</vt:lpstr>
      <vt:lpstr>TOOLS &amp; SKILLS USED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HCP Patient &amp; Dispense Performance Analysis</dc:title>
  <dc:creator>Shraddha</dc:creator>
  <cp:lastModifiedBy>Shraddha</cp:lastModifiedBy>
  <cp:revision>5</cp:revision>
  <dcterms:created xsi:type="dcterms:W3CDTF">2025-12-04T12:01:38Z</dcterms:created>
  <dcterms:modified xsi:type="dcterms:W3CDTF">2025-12-04T12:17:06Z</dcterms:modified>
</cp:coreProperties>
</file>